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ologica"/>
      <p:regular r:id="rId201314"/>
    </p:embeddedFont>
    <p:embeddedFont>
      <p:font typeface="Geologica Medium"/>
      <p:regular r:id="rId201315"/>
    </p:embeddedFont>
    <p:embeddedFont>
      <p:font typeface="Geologica SemiBold"/>
      <p:regular r:id="rId201316"/>
    </p:embeddedFont>
    <p:embeddedFont>
      <p:font typeface="Geologica Bold"/>
      <p:regular r:id="rId201317"/>
    </p:embeddedFont>
    <p:embeddedFont>
      <p:font typeface="Oxanium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CDD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235869"/>
            <a:ext cx="386070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WIRELESS PROTOCOL DEVELOPMENT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513284"/>
            <a:ext cx="3251119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0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TDMA SCHEDULE</a:t>
            </a:r>
            <a:endParaRPr lang="en-US" sz="50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0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PLANNER AND OPTIMIZER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09585" y="4631134"/>
            <a:ext cx="3251119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Generate a conflict-free transmission schedule for wireless nodes.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5650111"/>
            <a:ext cx="3251119" cy="598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Python · NetworkX · Pytest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Divya S · B.Tech Information Technology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0288" y="0"/>
            <a:ext cx="7721407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SCHEDULING CONSTRAINT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7016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Two-hop interference makes scheduling harder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09585" y="1773932"/>
            <a:ext cx="10972526" cy="1018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A TDMA network divides communication time into slots. Direct neighbours cannot share a slot. Nodes within two hops, including nodes that share a common neighbour, also conflict.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F7F6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Goal: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 generate a conflict-free schedule with minimum slots.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970709"/>
            <a:ext cx="10972526" cy="2857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SAMPLE TOPOLOGY · 16 NODES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7016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sample topology is a 4 × 4 wireless grid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09585" y="1924844"/>
            <a:ext cx="3154581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0" dirty="0">
                <a:solidFill>
                  <a:srgbClr val="F2F7F6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4 × 4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09585" y="2705894"/>
            <a:ext cx="315458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16 wireless nodes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3149798"/>
            <a:ext cx="3154581" cy="31651"/>
          </a:xfrm>
          <a:prstGeom prst="roundRect">
            <a:avLst>
              <a:gd name="adj" fmla="val 49998"/>
            </a:avLst>
          </a:prstGeom>
          <a:solidFill>
            <a:srgbClr val="DDECEE">
              <a:alpha val="2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345061"/>
            <a:ext cx="3154581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Static (x, y) coordinates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Radio range: 500 meters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Within range → radio-graph link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1255" y="1550591"/>
            <a:ext cx="7360855" cy="3238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SCHEDULING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7016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scheduler turns coordinates into validated slots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09585" y="1550591"/>
            <a:ext cx="84006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1835051"/>
            <a:ext cx="1950592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975941"/>
            <a:ext cx="1950691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Coordinates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2383929"/>
            <a:ext cx="195069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Static (x, 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64969" y="1550591"/>
            <a:ext cx="86516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64969" y="1835051"/>
            <a:ext cx="1950592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0" name="Text 8"/>
          <p:cNvSpPr/>
          <p:nvPr/>
        </p:nvSpPr>
        <p:spPr>
          <a:xfrm>
            <a:off x="2864969" y="1975941"/>
            <a:ext cx="1950691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Radio graph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64969" y="2383929"/>
            <a:ext cx="195069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Links within 500 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353" y="1550591"/>
            <a:ext cx="8671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0353" y="1835051"/>
            <a:ext cx="1950889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353" y="1975941"/>
            <a:ext cx="1950889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Conflict graph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353" y="2383929"/>
            <a:ext cx="1950889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Direct + two-hop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75936" y="1550591"/>
            <a:ext cx="8728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75936" y="1835051"/>
            <a:ext cx="1950592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8" name="Text 16"/>
          <p:cNvSpPr/>
          <p:nvPr/>
        </p:nvSpPr>
        <p:spPr>
          <a:xfrm>
            <a:off x="7375936" y="1975941"/>
            <a:ext cx="1950691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Coloring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75936" y="2383929"/>
            <a:ext cx="195069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Allocate slots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31320" y="1550591"/>
            <a:ext cx="86794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31320" y="1835051"/>
            <a:ext cx="1950691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22" name="Text 20"/>
          <p:cNvSpPr/>
          <p:nvPr/>
        </p:nvSpPr>
        <p:spPr>
          <a:xfrm>
            <a:off x="9631320" y="1975941"/>
            <a:ext cx="1950790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31320" y="2383929"/>
            <a:ext cx="195079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Check every conflict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9585" y="317172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DDECEE">
              <a:alpha val="2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09585" y="3430488"/>
            <a:ext cx="335271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RADIO GRAPH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9585" y="3742829"/>
            <a:ext cx="335271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Identifies nodes within 500 m.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19489" y="3430488"/>
            <a:ext cx="335271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CONFLICT GRAPH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19489" y="3742829"/>
            <a:ext cx="335271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Captures direct and two-hop conflicts.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394" y="3430488"/>
            <a:ext cx="335271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394" y="3742829"/>
            <a:ext cx="335271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Conflicting nodes never share a slot.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DISTANCE-2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7016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Conflict means shortest-path distance ≤ 2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09585" y="1550591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DIRECT CONFLICT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1862931"/>
            <a:ext cx="2063698" cy="810716"/>
          </a:xfrm>
          <a:prstGeom prst="rect">
            <a:avLst/>
          </a:prstGeom>
          <a:solidFill>
            <a:srgbClr val="63D9F2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091531"/>
            <a:ext cx="1606510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2400" spc="-29" kern="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825679" y="2233315"/>
            <a:ext cx="825479" cy="69751"/>
          </a:xfrm>
          <a:prstGeom prst="roundRect">
            <a:avLst>
              <a:gd name="adj" fmla="val 49999"/>
            </a:avLst>
          </a:prstGeom>
          <a:solidFill>
            <a:srgbClr val="071018"/>
          </a:solidFill>
          <a:ln/>
        </p:spPr>
      </p:sp>
      <p:sp>
        <p:nvSpPr>
          <p:cNvPr id="8" name="Shape 6"/>
          <p:cNvSpPr/>
          <p:nvPr/>
        </p:nvSpPr>
        <p:spPr>
          <a:xfrm>
            <a:off x="3803555" y="1862931"/>
            <a:ext cx="2063698" cy="810716"/>
          </a:xfrm>
          <a:prstGeom prst="rect">
            <a:avLst/>
          </a:prstGeom>
          <a:solidFill>
            <a:srgbClr val="63D9F2"/>
          </a:solidFill>
          <a:ln/>
        </p:spPr>
      </p:sp>
      <p:sp>
        <p:nvSpPr>
          <p:cNvPr id="9" name="Text 7"/>
          <p:cNvSpPr/>
          <p:nvPr/>
        </p:nvSpPr>
        <p:spPr>
          <a:xfrm>
            <a:off x="4032149" y="2091531"/>
            <a:ext cx="1606510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2400" spc="-29" kern="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09585" y="2787948"/>
            <a:ext cx="525766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A—B: different TDMA slots.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24442" y="1550591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TWO-HOP CONFLICT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2" y="1862931"/>
            <a:ext cx="1084533" cy="810716"/>
          </a:xfrm>
          <a:prstGeom prst="rect">
            <a:avLst/>
          </a:prstGeom>
          <a:solidFill>
            <a:srgbClr val="63D9F2"/>
          </a:solidFill>
          <a:ln/>
        </p:spPr>
      </p:sp>
      <p:sp>
        <p:nvSpPr>
          <p:cNvPr id="13" name="Text 11"/>
          <p:cNvSpPr/>
          <p:nvPr/>
        </p:nvSpPr>
        <p:spPr>
          <a:xfrm>
            <a:off x="6553036" y="2091531"/>
            <a:ext cx="627344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2400" spc="-29" kern="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561272" y="2249190"/>
            <a:ext cx="697193" cy="38100"/>
          </a:xfrm>
          <a:prstGeom prst="roundRect">
            <a:avLst>
              <a:gd name="adj" fmla="val 49999"/>
            </a:avLst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10861" y="1862931"/>
            <a:ext cx="1084731" cy="810716"/>
          </a:xfrm>
          <a:prstGeom prst="rect">
            <a:avLst/>
          </a:prstGeom>
          <a:solidFill>
            <a:srgbClr val="DDECEE"/>
          </a:solidFill>
          <a:ln/>
        </p:spPr>
      </p:sp>
      <p:sp>
        <p:nvSpPr>
          <p:cNvPr id="16" name="Text 14"/>
          <p:cNvSpPr/>
          <p:nvPr/>
        </p:nvSpPr>
        <p:spPr>
          <a:xfrm>
            <a:off x="8639455" y="2091531"/>
            <a:ext cx="627543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2400" spc="-29" kern="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647889" y="2249190"/>
            <a:ext cx="697193" cy="38100"/>
          </a:xfrm>
          <a:prstGeom prst="roundRect">
            <a:avLst>
              <a:gd name="adj" fmla="val 49999"/>
            </a:avLst>
          </a:prstGeom>
          <a:solidFill>
            <a:srgbClr val="DDECEE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497478" y="1862931"/>
            <a:ext cx="1084533" cy="810716"/>
          </a:xfrm>
          <a:prstGeom prst="rect">
            <a:avLst/>
          </a:prstGeom>
          <a:solidFill>
            <a:srgbClr val="63D9F2"/>
          </a:solidFill>
          <a:ln/>
        </p:spPr>
      </p:sp>
      <p:sp>
        <p:nvSpPr>
          <p:cNvPr id="19" name="Text 17"/>
          <p:cNvSpPr/>
          <p:nvPr/>
        </p:nvSpPr>
        <p:spPr>
          <a:xfrm>
            <a:off x="10726072" y="2091531"/>
            <a:ext cx="627344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2400" spc="-29" kern="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B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24442" y="2787948"/>
            <a:ext cx="525766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A—C—B: endpoints conflict.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585" y="3246140"/>
            <a:ext cx="1158211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F7F6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Rule: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 conflicting nodes receive different TDMA slots.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SEARCHING FOR A COMPACT COLORING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7016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Heuristic coloring searches for a compact schedule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09585" y="1550591"/>
            <a:ext cx="1158211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Evaluate highest-degree, lowest-degree, DSATUR-style, and NetworkX largest-first orderings.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008783"/>
            <a:ext cx="84006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293243"/>
            <a:ext cx="2514537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434134"/>
            <a:ext cx="2514537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Conflict graph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8914" y="2008783"/>
            <a:ext cx="86516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8914" y="2293243"/>
            <a:ext cx="2514537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0" name="Text 8"/>
          <p:cNvSpPr/>
          <p:nvPr/>
        </p:nvSpPr>
        <p:spPr>
          <a:xfrm>
            <a:off x="3428914" y="2434134"/>
            <a:ext cx="2514537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Node ordering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8914" y="2842121"/>
            <a:ext cx="251453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Four heuristics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8244" y="2008783"/>
            <a:ext cx="8671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244" y="2293243"/>
            <a:ext cx="2514537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2434134"/>
            <a:ext cx="2514537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Greedy coloring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48244" y="2842121"/>
            <a:ext cx="251453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First available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67573" y="2008783"/>
            <a:ext cx="8728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67573" y="2293243"/>
            <a:ext cx="2514537" cy="1905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8" name="Text 16"/>
          <p:cNvSpPr/>
          <p:nvPr/>
        </p:nvSpPr>
        <p:spPr>
          <a:xfrm>
            <a:off x="9067573" y="2434134"/>
            <a:ext cx="2514537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Slot assignment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67573" y="2842121"/>
            <a:ext cx="251453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0, 1, 2, 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585" y="3528913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FOR EACH ORDERING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585" y="3841254"/>
            <a:ext cx="525766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Select a node → inspect conflicting slots → assign the first available slot.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24442" y="3300313"/>
            <a:ext cx="5257668" cy="1330325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23" name="Text 21"/>
          <p:cNvSpPr/>
          <p:nvPr/>
        </p:nvSpPr>
        <p:spPr>
          <a:xfrm>
            <a:off x="6553036" y="3528913"/>
            <a:ext cx="502907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CANDIDATE SELECTION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53036" y="3841254"/>
            <a:ext cx="480048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Compare total slot counts; keep the best candidate.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FINAL MAPPING · 16 NODES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7016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final mapping uses nine TDMA slots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09585" y="1550591"/>
            <a:ext cx="1158211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Nodes share a slot only when they do not conflict in the distance-2 graph.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08783"/>
          <a:ext cx="9143771" cy="914400"/>
        </p:xfrm>
        <a:graphic>
          <a:graphicData uri="http://schemas.openxmlformats.org/drawingml/2006/table">
            <a:tbl>
              <a:tblPr/>
              <a:tblGrid>
                <a:gridCol w="1594847"/>
                <a:gridCol w="683506"/>
                <a:gridCol w="1594847"/>
                <a:gridCol w="683506"/>
              </a:tblGrid>
              <a:tr h="4556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Slot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Slot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6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Node_01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8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Node_02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5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6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Node_03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4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Node_04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8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6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Node_05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7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Node_06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3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6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Node_07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2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Node_08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7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6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Node_09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6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Node_10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1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6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Node_11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0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Node_12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6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6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Node_13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8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Node_14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5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9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Node_15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4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Node_16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8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23380" y="2008783"/>
            <a:ext cx="59587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NINE-SLOT ASSIGNMENT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23380" y="2321123"/>
            <a:ext cx="1910012" cy="1110357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8" name="Text 5"/>
          <p:cNvSpPr/>
          <p:nvPr/>
        </p:nvSpPr>
        <p:spPr>
          <a:xfrm>
            <a:off x="5851974" y="2549723"/>
            <a:ext cx="1681418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1974" y="2937768"/>
            <a:ext cx="1452824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N11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85788" y="2321123"/>
            <a:ext cx="1833814" cy="1110357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11" name="Text 8"/>
          <p:cNvSpPr/>
          <p:nvPr/>
        </p:nvSpPr>
        <p:spPr>
          <a:xfrm>
            <a:off x="7914382" y="2549723"/>
            <a:ext cx="1605220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14382" y="2937768"/>
            <a:ext cx="137662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N10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671999" y="2321123"/>
            <a:ext cx="1910012" cy="1110357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14" name="Text 11"/>
          <p:cNvSpPr/>
          <p:nvPr/>
        </p:nvSpPr>
        <p:spPr>
          <a:xfrm>
            <a:off x="9900593" y="2549723"/>
            <a:ext cx="1681418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900593" y="2937768"/>
            <a:ext cx="1452824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N07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623380" y="3583781"/>
            <a:ext cx="1910012" cy="1110357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17" name="Text 14"/>
          <p:cNvSpPr/>
          <p:nvPr/>
        </p:nvSpPr>
        <p:spPr>
          <a:xfrm>
            <a:off x="5851974" y="3812381"/>
            <a:ext cx="1681418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51974" y="4200426"/>
            <a:ext cx="1452824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N06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685788" y="3583781"/>
            <a:ext cx="1833814" cy="1110357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20" name="Text 17"/>
          <p:cNvSpPr/>
          <p:nvPr/>
        </p:nvSpPr>
        <p:spPr>
          <a:xfrm>
            <a:off x="7914382" y="3812381"/>
            <a:ext cx="1605220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14382" y="4200426"/>
            <a:ext cx="137662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N03, N15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671999" y="3583781"/>
            <a:ext cx="1910012" cy="1110357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23" name="Text 20"/>
          <p:cNvSpPr/>
          <p:nvPr/>
        </p:nvSpPr>
        <p:spPr>
          <a:xfrm>
            <a:off x="9900593" y="3812381"/>
            <a:ext cx="1681418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900593" y="4200426"/>
            <a:ext cx="1452824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N02, N14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623380" y="4846439"/>
            <a:ext cx="1910012" cy="1375470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26" name="Text 23"/>
          <p:cNvSpPr/>
          <p:nvPr/>
        </p:nvSpPr>
        <p:spPr>
          <a:xfrm>
            <a:off x="5851974" y="5075039"/>
            <a:ext cx="1681418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51974" y="5463084"/>
            <a:ext cx="1452824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N09, N12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685788" y="4846439"/>
            <a:ext cx="1833814" cy="1375470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29" name="Text 26"/>
          <p:cNvSpPr/>
          <p:nvPr/>
        </p:nvSpPr>
        <p:spPr>
          <a:xfrm>
            <a:off x="7914382" y="5075039"/>
            <a:ext cx="1605220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S7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914382" y="5463084"/>
            <a:ext cx="137662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N05, N08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9671999" y="4846439"/>
            <a:ext cx="1910012" cy="137547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32" name="Text 29"/>
          <p:cNvSpPr/>
          <p:nvPr/>
        </p:nvSpPr>
        <p:spPr>
          <a:xfrm>
            <a:off x="9900593" y="5075039"/>
            <a:ext cx="1681418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S8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900593" y="5463084"/>
            <a:ext cx="1452824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N01, N04,</a:t>
            </a:r>
            <a:endParaRPr lang="en-US" sz="1800" dirty="0"/>
          </a:p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N13, N16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EXACT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7016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Verification confirms a nine-slot minimum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50591"/>
            <a:ext cx="1950691" cy="1448495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779191"/>
            <a:ext cx="1493502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0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16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38179" y="2560241"/>
            <a:ext cx="1722097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NODES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64969" y="1550591"/>
            <a:ext cx="1950691" cy="1448495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8" name="Text 6"/>
          <p:cNvSpPr/>
          <p:nvPr/>
        </p:nvSpPr>
        <p:spPr>
          <a:xfrm>
            <a:off x="3093563" y="1779191"/>
            <a:ext cx="1493502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0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42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093563" y="2560241"/>
            <a:ext cx="1722097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RADIO LINKS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353" y="1550591"/>
            <a:ext cx="1950889" cy="1448495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1" name="Text 9"/>
          <p:cNvSpPr/>
          <p:nvPr/>
        </p:nvSpPr>
        <p:spPr>
          <a:xfrm>
            <a:off x="5348947" y="1779191"/>
            <a:ext cx="1493701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0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90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348947" y="2560241"/>
            <a:ext cx="1722295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CONFLICT PAIRS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75936" y="1550591"/>
            <a:ext cx="1950691" cy="1448495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4" name="Text 12"/>
          <p:cNvSpPr/>
          <p:nvPr/>
        </p:nvSpPr>
        <p:spPr>
          <a:xfrm>
            <a:off x="7604530" y="1779191"/>
            <a:ext cx="1493502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0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9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7604530" y="2560241"/>
            <a:ext cx="1722097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TDMA SLOTS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31320" y="1550591"/>
            <a:ext cx="1950790" cy="1448495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7" name="Text 15"/>
          <p:cNvSpPr/>
          <p:nvPr/>
        </p:nvSpPr>
        <p:spPr>
          <a:xfrm>
            <a:off x="9859914" y="1779191"/>
            <a:ext cx="1493602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0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0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859914" y="2560241"/>
            <a:ext cx="1722196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CONFLICTS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585" y="3176885"/>
            <a:ext cx="3352716" cy="1975941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20" name="Text 18"/>
          <p:cNvSpPr/>
          <p:nvPr/>
        </p:nvSpPr>
        <p:spPr>
          <a:xfrm>
            <a:off x="838179" y="3405485"/>
            <a:ext cx="31241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8 SLOTS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8179" y="3682901"/>
            <a:ext cx="2895528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400" spc="-29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Not possible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419489" y="3176885"/>
            <a:ext cx="3352716" cy="1975941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23" name="Text 21"/>
          <p:cNvSpPr/>
          <p:nvPr/>
        </p:nvSpPr>
        <p:spPr>
          <a:xfrm>
            <a:off x="4648084" y="3405485"/>
            <a:ext cx="31241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9 SLOTS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48084" y="3682901"/>
            <a:ext cx="2895528" cy="70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400" spc="-29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Possible · 0 conflicts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229394" y="3405485"/>
            <a:ext cx="335271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394" y="3863677"/>
            <a:ext cx="3352716" cy="106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400" spc="-29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9 slots is the minimum for this sample topology.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TESTING COMPLETE · INTEGRATION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7016"/>
            <a:ext cx="109725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Testing is complete; EMANE integration is next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50591"/>
            <a:ext cx="4206075" cy="3316784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779191"/>
            <a:ext cx="397748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PYTEST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179" y="2056606"/>
            <a:ext cx="3748887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0" dirty="0">
                <a:solidFill>
                  <a:srgbClr val="FFFFFF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4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38179" y="2755106"/>
            <a:ext cx="3748887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400" spc="-29" kern="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Tests passed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38179" y="3300710"/>
            <a:ext cx="3748887" cy="31651"/>
          </a:xfrm>
          <a:prstGeom prst="roundRect">
            <a:avLst>
              <a:gd name="adj" fmla="val 49998"/>
            </a:avLst>
          </a:prstGeom>
          <a:solidFill>
            <a:srgbClr val="DDECEE">
              <a:alpha val="2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38179" y="3495973"/>
            <a:ext cx="3748887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Coverage: radio-graph construction, distance-2 conflict detection, schedule validation, and schedule-matrix generation.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72749" y="1779191"/>
            <a:ext cx="630936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PART 2 · EMANE TDMA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72749" y="2109887"/>
            <a:ext cx="84006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06424" y="2091531"/>
            <a:ext cx="2568610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Python scheduler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79826" y="2109887"/>
            <a:ext cx="86516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38602" y="2091531"/>
            <a:ext cx="2543508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Node → Slot mapping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72749" y="2679700"/>
            <a:ext cx="8671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33510" y="2661345"/>
            <a:ext cx="2541524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Adapter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33510" y="3069332"/>
            <a:ext cx="254152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Generic XML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79826" y="2679700"/>
            <a:ext cx="8728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46242" y="2661345"/>
            <a:ext cx="2535869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EMANE TDMA model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72749" y="3672780"/>
            <a:ext cx="86794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710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34303" y="3654425"/>
            <a:ext cx="5847807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Packet transmission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72749" y="4033838"/>
            <a:ext cx="630936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F7F6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Slot duration: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 1 ms.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72749" y="4428530"/>
            <a:ext cx="6309361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Actual packet-level EMANE execution is not claimed yet.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IMPLEMENTED · VALIDATED · READY FOR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7016"/>
            <a:ext cx="10972526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 validated nine-slot schedule is ready for integration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09585" y="2017316"/>
            <a:ext cx="4206075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ARCHITECTURE PATH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585" y="2341860"/>
            <a:ext cx="4206075" cy="1605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16 nodes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Conflict analysis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9-slot schedule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Validation ✓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EMANE integration · Future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72749" y="2017316"/>
            <a:ext cx="630936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IMPLEMENTED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72749" y="2329656"/>
            <a:ext cx="6309361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Radio graph; distance-2 conflict graph; slot allocation; validation; exact verification; automated testing; EMANE schedule-adapter prototype.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72749" y="3285133"/>
            <a:ext cx="630936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FINAL RESULT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72749" y="3597473"/>
            <a:ext cx="6309361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Conflict-free TDMA schedule using 9 slots for the 16-node sample topology.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72749" y="4272558"/>
            <a:ext cx="630936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72749" y="4584898"/>
            <a:ext cx="6309361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Complete EMANE setup; connect the schedule to the TDMA event mechanism; verify packet transmission.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2026-09-28T17:04:38Z</dcterms:created>
  <dcterms:modified xsi:type="dcterms:W3CDTF">2026-09-28T17:04:38Z</dcterms:modified>
</cp:coreProperties>
</file>